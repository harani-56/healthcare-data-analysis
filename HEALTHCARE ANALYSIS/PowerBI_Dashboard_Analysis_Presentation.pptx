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3439481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460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057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628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637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599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915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804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336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07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0503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717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0948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1488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3550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9734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055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227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7751" y="3181606"/>
            <a:ext cx="5718688" cy="494788"/>
          </a:xfrm>
        </p:spPr>
        <p:txBody>
          <a:bodyPr>
            <a:normAutofit/>
          </a:bodyPr>
          <a:lstStyle/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lgerian" panose="04020705040A02060702" pitchFamily="82" charset="0"/>
              </a:rPr>
              <a:t>Power BI Dashboard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17622" y="2645749"/>
            <a:ext cx="6159910" cy="85294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Algerian" panose="04020705040A02060702" pitchFamily="82" charset="0"/>
              </a:rPr>
              <a:t>Healthcare Data Analysis</a:t>
            </a:r>
            <a:endParaRPr sz="3200" b="1" dirty="0">
              <a:solidFill>
                <a:schemeClr val="accent4"/>
              </a:solidFill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solidFill>
                  <a:schemeClr val="bg2">
                    <a:lumMod val="25000"/>
                  </a:schemeClr>
                </a:solidFill>
                <a:latin typeface="Algerian" panose="04020705040A02060702" pitchFamily="82" charset="0"/>
              </a:rPr>
              <a:t>Dashboard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>
                <a:latin typeface="Arial Narrow" panose="020B0606020202030204" pitchFamily="34" charset="0"/>
              </a:rPr>
              <a:t>The dashboard contains 3 report pages.</a:t>
            </a:r>
          </a:p>
          <a:p>
            <a:r>
              <a:rPr dirty="0">
                <a:latin typeface="Arial Narrow" panose="020B0606020202030204" pitchFamily="34" charset="0"/>
              </a:rPr>
              <a:t>The dashboard is designed for business analysis and reporting.</a:t>
            </a:r>
          </a:p>
          <a:p>
            <a:r>
              <a:rPr dirty="0">
                <a:latin typeface="Arial Narrow" panose="020B0606020202030204" pitchFamily="34" charset="0"/>
              </a:rPr>
              <a:t> Interactive visuals are used for comparing performance metrics.</a:t>
            </a:r>
          </a:p>
          <a:p>
            <a:r>
              <a:rPr dirty="0">
                <a:latin typeface="Arial Narrow" panose="020B0606020202030204" pitchFamily="34" charset="0"/>
              </a:rPr>
              <a:t>Filters and slicers improve user-driven exploration.</a:t>
            </a:r>
          </a:p>
          <a:p>
            <a:r>
              <a:rPr dirty="0">
                <a:latin typeface="Arial Narrow" panose="020B0606020202030204" pitchFamily="34" charset="0"/>
              </a:rPr>
              <a:t>Charts and KPIs help identify patterns, trends, and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2">
                    <a:lumMod val="25000"/>
                  </a:schemeClr>
                </a:solidFill>
                <a:latin typeface="Algerian" panose="04020705040A02060702" pitchFamily="82" charset="0"/>
              </a:rPr>
              <a:t>Page 1 -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latin typeface="Arial Narrow" panose="020B0606020202030204" pitchFamily="34" charset="0"/>
              </a:rPr>
              <a:t>This page contains 11 visuals.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C</a:t>
            </a:r>
            <a:r>
              <a:rPr b="1" dirty="0">
                <a:latin typeface="Arial Narrow" panose="020B0606020202030204" pitchFamily="34" charset="0"/>
              </a:rPr>
              <a:t>ard Visual: </a:t>
            </a:r>
            <a:r>
              <a:rPr dirty="0">
                <a:latin typeface="Arial Narrow" panose="020B0606020202030204" pitchFamily="34" charset="0"/>
              </a:rPr>
              <a:t>This visual helps present business data in an interactive and understandable way.</a:t>
            </a:r>
          </a:p>
          <a:p>
            <a:r>
              <a:rPr dirty="0">
                <a:latin typeface="Arial Narrow" panose="020B0606020202030204" pitchFamily="34" charset="0"/>
              </a:rPr>
              <a:t>While presenting, explain how this page supports business decision-making.</a:t>
            </a:r>
          </a:p>
          <a:p>
            <a:r>
              <a:rPr dirty="0">
                <a:latin typeface="Arial Narrow" panose="020B0606020202030204" pitchFamily="34" charset="0"/>
              </a:rPr>
              <a:t>Highlight important trends, comparisons, and key performance indicators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436" y="-133963"/>
            <a:ext cx="6785351" cy="1182328"/>
          </a:xfrm>
        </p:spPr>
        <p:txBody>
          <a:bodyPr/>
          <a:lstStyle/>
          <a:p>
            <a:r>
              <a:rPr dirty="0">
                <a:solidFill>
                  <a:schemeClr val="bg2">
                    <a:lumMod val="25000"/>
                  </a:schemeClr>
                </a:solidFill>
                <a:latin typeface="Algerian" panose="04020705040A02060702" pitchFamily="82" charset="0"/>
              </a:rPr>
              <a:t>Page 2 -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39529"/>
            <a:ext cx="8229600" cy="4525963"/>
          </a:xfrm>
        </p:spPr>
        <p:txBody>
          <a:bodyPr>
            <a:noAutofit/>
          </a:bodyPr>
          <a:lstStyle/>
          <a:p>
            <a:r>
              <a:rPr lang="en-US" sz="1800" b="1" dirty="0" err="1">
                <a:latin typeface="Arial Narrow" panose="020B0606020202030204" pitchFamily="34" charset="0"/>
              </a:rPr>
              <a:t>A</a:t>
            </a:r>
            <a:r>
              <a:rPr sz="1800" b="1" dirty="0" err="1">
                <a:latin typeface="Arial Narrow" panose="020B0606020202030204" pitchFamily="34" charset="0"/>
              </a:rPr>
              <a:t>dvancedSlicerVisual</a:t>
            </a:r>
            <a:r>
              <a:rPr sz="1800" b="1" dirty="0">
                <a:latin typeface="Arial Narrow" panose="020B0606020202030204" pitchFamily="34" charset="0"/>
              </a:rPr>
              <a:t>: </a:t>
            </a:r>
            <a:r>
              <a:rPr sz="1800" dirty="0">
                <a:latin typeface="Arial Narrow" panose="020B0606020202030204" pitchFamily="34" charset="0"/>
              </a:rPr>
              <a:t>This visual helps present business data in an interactive and understandable way.</a:t>
            </a:r>
          </a:p>
          <a:p>
            <a:r>
              <a:rPr lang="en-US" sz="1800" b="1" dirty="0" err="1">
                <a:latin typeface="Arial Narrow" panose="020B0606020202030204" pitchFamily="34" charset="0"/>
              </a:rPr>
              <a:t>A</a:t>
            </a:r>
            <a:r>
              <a:rPr sz="1800" b="1" dirty="0" err="1">
                <a:latin typeface="Arial Narrow" panose="020B0606020202030204" pitchFamily="34" charset="0"/>
              </a:rPr>
              <a:t>reaChart</a:t>
            </a:r>
            <a:r>
              <a:rPr sz="1800" b="1" dirty="0">
                <a:latin typeface="Arial Narrow" panose="020B0606020202030204" pitchFamily="34" charset="0"/>
              </a:rPr>
              <a:t>: </a:t>
            </a:r>
            <a:r>
              <a:rPr sz="1800" dirty="0">
                <a:latin typeface="Arial Narrow" panose="020B0606020202030204" pitchFamily="34" charset="0"/>
              </a:rPr>
              <a:t>Area Charts highlight trends and magnitude over time.</a:t>
            </a:r>
          </a:p>
          <a:p>
            <a:r>
              <a:rPr lang="en-US" sz="1800" b="1" dirty="0" err="1">
                <a:latin typeface="Arial Narrow" panose="020B0606020202030204" pitchFamily="34" charset="0"/>
              </a:rPr>
              <a:t>B</a:t>
            </a:r>
            <a:r>
              <a:rPr sz="1800" b="1" dirty="0" err="1">
                <a:latin typeface="Arial Narrow" panose="020B0606020202030204" pitchFamily="34" charset="0"/>
              </a:rPr>
              <a:t>arChart</a:t>
            </a:r>
            <a:r>
              <a:rPr sz="1800" dirty="0">
                <a:latin typeface="Arial Narrow" panose="020B0606020202030204" pitchFamily="34" charset="0"/>
              </a:rPr>
              <a:t>: Bar Charts compare values across different categories in a simple visual format.</a:t>
            </a:r>
          </a:p>
          <a:p>
            <a:r>
              <a:rPr lang="en-IN" sz="1800" b="1" dirty="0">
                <a:latin typeface="Arial Narrow" panose="020B0606020202030204" pitchFamily="34" charset="0"/>
              </a:rPr>
              <a:t>C</a:t>
            </a:r>
            <a:r>
              <a:rPr sz="1800" b="1" dirty="0" err="1">
                <a:latin typeface="Arial Narrow" panose="020B0606020202030204" pitchFamily="34" charset="0"/>
              </a:rPr>
              <a:t>ardVisual</a:t>
            </a:r>
            <a:r>
              <a:rPr sz="1800" b="1" dirty="0">
                <a:latin typeface="Arial Narrow" panose="020B0606020202030204" pitchFamily="34" charset="0"/>
              </a:rPr>
              <a:t>: </a:t>
            </a:r>
            <a:r>
              <a:rPr sz="1800" dirty="0">
                <a:latin typeface="Arial Narrow" panose="020B0606020202030204" pitchFamily="34" charset="0"/>
              </a:rPr>
              <a:t>This visual helps present business data in an interactive and understandable way.</a:t>
            </a:r>
          </a:p>
          <a:p>
            <a:r>
              <a:rPr lang="en-US" sz="1800" b="1" dirty="0" err="1">
                <a:latin typeface="Arial Narrow" panose="020B0606020202030204" pitchFamily="34" charset="0"/>
              </a:rPr>
              <a:t>C</a:t>
            </a:r>
            <a:r>
              <a:rPr sz="1800" b="1" dirty="0" err="1">
                <a:latin typeface="Arial Narrow" panose="020B0606020202030204" pitchFamily="34" charset="0"/>
              </a:rPr>
              <a:t>olumnChart</a:t>
            </a:r>
            <a:r>
              <a:rPr sz="1800" b="1" dirty="0">
                <a:latin typeface="Arial Narrow" panose="020B0606020202030204" pitchFamily="34" charset="0"/>
              </a:rPr>
              <a:t>: </a:t>
            </a:r>
            <a:r>
              <a:rPr sz="1800" dirty="0">
                <a:latin typeface="Arial Narrow" panose="020B0606020202030204" pitchFamily="34" charset="0"/>
              </a:rPr>
              <a:t>This visual helps present business data in an interactive and understandable way.</a:t>
            </a:r>
          </a:p>
          <a:p>
            <a:r>
              <a:rPr lang="en-US" sz="1800" b="1" dirty="0" err="1">
                <a:latin typeface="Arial Narrow" panose="020B0606020202030204" pitchFamily="34" charset="0"/>
              </a:rPr>
              <a:t>D</a:t>
            </a:r>
            <a:r>
              <a:rPr sz="1800" b="1" dirty="0" err="1">
                <a:latin typeface="Arial Narrow" panose="020B0606020202030204" pitchFamily="34" charset="0"/>
              </a:rPr>
              <a:t>onutChart</a:t>
            </a:r>
            <a:r>
              <a:rPr sz="1800" b="1" dirty="0">
                <a:latin typeface="Arial Narrow" panose="020B0606020202030204" pitchFamily="34" charset="0"/>
              </a:rPr>
              <a:t>: </a:t>
            </a:r>
            <a:r>
              <a:rPr sz="1800" dirty="0">
                <a:latin typeface="Arial Narrow" panose="020B0606020202030204" pitchFamily="34" charset="0"/>
              </a:rPr>
              <a:t>Donut Charts represent category distribution with percentage contribution.</a:t>
            </a:r>
          </a:p>
          <a:p>
            <a:r>
              <a:rPr lang="en-IN" sz="1800" b="1" dirty="0">
                <a:latin typeface="Arial Narrow" panose="020B0606020202030204" pitchFamily="34" charset="0"/>
              </a:rPr>
              <a:t>Textbox: </a:t>
            </a:r>
            <a:r>
              <a:rPr sz="1800" dirty="0">
                <a:latin typeface="Arial Narrow" panose="020B0606020202030204" pitchFamily="34" charset="0"/>
              </a:rPr>
              <a:t>This visual helps present business data in an interactive and understandable way.</a:t>
            </a:r>
          </a:p>
          <a:p>
            <a:r>
              <a:rPr lang="en-US" sz="1800" b="1" dirty="0" err="1">
                <a:latin typeface="Arial Narrow" panose="020B0606020202030204" pitchFamily="34" charset="0"/>
              </a:rPr>
              <a:t>T</a:t>
            </a:r>
            <a:r>
              <a:rPr sz="1800" b="1" dirty="0" err="1">
                <a:latin typeface="Arial Narrow" panose="020B0606020202030204" pitchFamily="34" charset="0"/>
              </a:rPr>
              <a:t>reemap</a:t>
            </a:r>
            <a:r>
              <a:rPr sz="1800" b="1" dirty="0">
                <a:latin typeface="Arial Narrow" panose="020B0606020202030204" pitchFamily="34" charset="0"/>
              </a:rPr>
              <a:t>: </a:t>
            </a:r>
            <a:r>
              <a:rPr sz="1800" dirty="0">
                <a:latin typeface="Arial Narrow" panose="020B0606020202030204" pitchFamily="34" charset="0"/>
              </a:rPr>
              <a:t>This visual helps present business data in an interactive and understandable way.</a:t>
            </a:r>
          </a:p>
          <a:p>
            <a:pPr marL="0" indent="0">
              <a:buNone/>
            </a:pPr>
            <a:r>
              <a:rPr lang="en-US" sz="1800" dirty="0">
                <a:latin typeface="Arial Narrow" panose="020B0606020202030204" pitchFamily="34" charset="0"/>
              </a:rPr>
              <a:t>       </a:t>
            </a:r>
            <a:r>
              <a:rPr sz="1800" dirty="0">
                <a:latin typeface="Arial Narrow" panose="020B0606020202030204" pitchFamily="34" charset="0"/>
              </a:rPr>
              <a:t>While presenting, explain how this page supports business decision-making.</a:t>
            </a:r>
          </a:p>
          <a:p>
            <a:r>
              <a:rPr lang="en-US" sz="1800" dirty="0">
                <a:latin typeface="Arial Narrow" panose="020B0606020202030204" pitchFamily="34" charset="0"/>
              </a:rPr>
              <a:t> </a:t>
            </a:r>
            <a:r>
              <a:rPr sz="1800" dirty="0">
                <a:latin typeface="Arial Narrow" panose="020B0606020202030204" pitchFamily="34" charset="0"/>
              </a:rPr>
              <a:t>Highlight important trends, comparisons, and key performance indicators.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>
                <a:latin typeface="Algerian" panose="04020705040A02060702" pitchFamily="82" charset="0"/>
              </a:rPr>
              <a:t>Page 3 </a:t>
            </a:r>
            <a:r>
              <a:rPr lang="en-IN" dirty="0">
                <a:latin typeface="Algerian" panose="04020705040A02060702" pitchFamily="82" charset="0"/>
              </a:rPr>
              <a:t>–</a:t>
            </a:r>
            <a:r>
              <a:rPr dirty="0">
                <a:latin typeface="Algerian" panose="04020705040A02060702" pitchFamily="82" charset="0"/>
              </a:rPr>
              <a:t> </a:t>
            </a:r>
            <a:r>
              <a:rPr lang="en-US" dirty="0">
                <a:latin typeface="Algerian" panose="04020705040A02060702" pitchFamily="82" charset="0"/>
              </a:rPr>
              <a:t>PATIENT </a:t>
            </a:r>
            <a:r>
              <a:rPr dirty="0">
                <a:latin typeface="Algerian" panose="04020705040A02060702" pitchFamily="82" charset="0"/>
              </a:rPr>
              <a:t>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      </a:t>
            </a:r>
            <a:r>
              <a:rPr dirty="0"/>
              <a:t>This page contains 8 visuals.</a:t>
            </a:r>
          </a:p>
          <a:p>
            <a:r>
              <a:rPr lang="en-US" b="1" dirty="0" err="1"/>
              <a:t>A</a:t>
            </a:r>
            <a:r>
              <a:rPr b="1" dirty="0" err="1"/>
              <a:t>dvancedSlicerVisual</a:t>
            </a:r>
            <a:r>
              <a:rPr b="1" dirty="0"/>
              <a:t>: </a:t>
            </a:r>
            <a:r>
              <a:rPr dirty="0"/>
              <a:t>This visual helps present business data in an interactive and understandable way.</a:t>
            </a:r>
          </a:p>
          <a:p>
            <a:r>
              <a:rPr lang="en-US" b="1" dirty="0" err="1"/>
              <a:t>C</a:t>
            </a:r>
            <a:r>
              <a:rPr b="1" dirty="0" err="1"/>
              <a:t>olumnChart</a:t>
            </a:r>
            <a:r>
              <a:rPr b="1" dirty="0"/>
              <a:t>: </a:t>
            </a:r>
            <a:r>
              <a:rPr dirty="0"/>
              <a:t>This visual helps present business data in an interactive and understandable way.</a:t>
            </a:r>
          </a:p>
          <a:p>
            <a:r>
              <a:rPr lang="en-US" b="1" dirty="0" err="1"/>
              <a:t>D</a:t>
            </a:r>
            <a:r>
              <a:rPr b="1" dirty="0" err="1"/>
              <a:t>onutChart</a:t>
            </a:r>
            <a:r>
              <a:rPr b="1" dirty="0"/>
              <a:t>: </a:t>
            </a:r>
            <a:r>
              <a:rPr dirty="0"/>
              <a:t>Donut Charts represent category distribution with percentage contribution.</a:t>
            </a:r>
          </a:p>
          <a:p>
            <a:r>
              <a:rPr lang="en-US" b="1" dirty="0"/>
              <a:t>G</a:t>
            </a:r>
            <a:r>
              <a:rPr b="1" dirty="0"/>
              <a:t>auge: </a:t>
            </a:r>
            <a:r>
              <a:rPr dirty="0"/>
              <a:t>This visual helps present business data in an interactive and understandable way.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98D089-C32C-6D1F-D0B9-068520104A3D}"/>
              </a:ext>
            </a:extLst>
          </p:cNvPr>
          <p:cNvSpPr txBox="1"/>
          <p:nvPr/>
        </p:nvSpPr>
        <p:spPr>
          <a:xfrm>
            <a:off x="589935" y="1396181"/>
            <a:ext cx="825909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 Narrow" panose="020B0606020202030204" pitchFamily="34" charset="0"/>
              </a:rPr>
              <a:t>• </a:t>
            </a:r>
            <a:r>
              <a:rPr lang="en-US" sz="2400" b="1" dirty="0" err="1">
                <a:latin typeface="Arial Narrow" panose="020B0606020202030204" pitchFamily="34" charset="0"/>
              </a:rPr>
              <a:t>HundredPercentStackedColumnChart</a:t>
            </a:r>
            <a:r>
              <a:rPr lang="en-US" sz="2400" b="1" dirty="0">
                <a:latin typeface="Arial Narrow" panose="020B0606020202030204" pitchFamily="34" charset="0"/>
              </a:rPr>
              <a:t>: </a:t>
            </a:r>
            <a:r>
              <a:rPr lang="en-US" sz="2400" dirty="0">
                <a:latin typeface="Arial Narrow" panose="020B0606020202030204" pitchFamily="34" charset="0"/>
              </a:rPr>
              <a:t>This visual helps present business data in an interactive and understandable way.</a:t>
            </a:r>
          </a:p>
          <a:p>
            <a:r>
              <a:rPr lang="en-US" sz="2400" dirty="0">
                <a:latin typeface="Arial Narrow" panose="020B0606020202030204" pitchFamily="34" charset="0"/>
              </a:rPr>
              <a:t>• </a:t>
            </a:r>
            <a:r>
              <a:rPr lang="en-US" sz="2400" b="1" dirty="0" err="1">
                <a:latin typeface="Arial Narrow" panose="020B0606020202030204" pitchFamily="34" charset="0"/>
              </a:rPr>
              <a:t>PieChart</a:t>
            </a:r>
            <a:r>
              <a:rPr lang="en-US" sz="2400" b="1" dirty="0">
                <a:latin typeface="Arial Narrow" panose="020B0606020202030204" pitchFamily="34" charset="0"/>
              </a:rPr>
              <a:t>: </a:t>
            </a:r>
            <a:r>
              <a:rPr lang="en-US" sz="2400" dirty="0">
                <a:latin typeface="Arial Narrow" panose="020B0606020202030204" pitchFamily="34" charset="0"/>
              </a:rPr>
              <a:t>Pie Charts show proportional contribution of categories to the whole dataset.</a:t>
            </a:r>
          </a:p>
          <a:p>
            <a:r>
              <a:rPr lang="en-US" sz="2400" dirty="0">
                <a:latin typeface="Arial Narrow" panose="020B0606020202030204" pitchFamily="34" charset="0"/>
              </a:rPr>
              <a:t>• </a:t>
            </a:r>
            <a:r>
              <a:rPr lang="en-US" sz="2400" b="1" dirty="0" err="1">
                <a:latin typeface="Arial Narrow" panose="020B0606020202030204" pitchFamily="34" charset="0"/>
              </a:rPr>
              <a:t>TableEx</a:t>
            </a:r>
            <a:r>
              <a:rPr lang="en-US" sz="2400" b="1" dirty="0">
                <a:latin typeface="Arial Narrow" panose="020B0606020202030204" pitchFamily="34" charset="0"/>
              </a:rPr>
              <a:t>: </a:t>
            </a:r>
            <a:r>
              <a:rPr lang="en-US" sz="2400" dirty="0">
                <a:latin typeface="Arial Narrow" panose="020B0606020202030204" pitchFamily="34" charset="0"/>
              </a:rPr>
              <a:t>Tables provide detailed row-level information for deeper analysis.</a:t>
            </a:r>
          </a:p>
          <a:p>
            <a:r>
              <a:rPr lang="en-US" sz="2400" dirty="0">
                <a:latin typeface="Arial Narrow" panose="020B0606020202030204" pitchFamily="34" charset="0"/>
              </a:rPr>
              <a:t>• </a:t>
            </a:r>
            <a:r>
              <a:rPr lang="en-US" sz="2400" b="1" dirty="0">
                <a:latin typeface="Arial Narrow" panose="020B0606020202030204" pitchFamily="34" charset="0"/>
              </a:rPr>
              <a:t>Textbox: </a:t>
            </a:r>
            <a:r>
              <a:rPr lang="en-US" sz="2400" dirty="0">
                <a:latin typeface="Arial Narrow" panose="020B0606020202030204" pitchFamily="34" charset="0"/>
              </a:rPr>
              <a:t>This visual helps present business data in an interactive and understandable way.</a:t>
            </a:r>
          </a:p>
          <a:p>
            <a:r>
              <a:rPr lang="en-US" sz="2400" dirty="0">
                <a:latin typeface="Arial Narrow" panose="020B0606020202030204" pitchFamily="34" charset="0"/>
              </a:rPr>
              <a:t>• While presenting, explain how this page supports business decision-making.</a:t>
            </a:r>
          </a:p>
          <a:p>
            <a:r>
              <a:rPr lang="en-US" sz="2400" dirty="0">
                <a:latin typeface="Arial Narrow" panose="020B0606020202030204" pitchFamily="34" charset="0"/>
              </a:rPr>
              <a:t>• Highlight important trends, comparisons, and key performance indicators.</a:t>
            </a:r>
          </a:p>
        </p:txBody>
      </p:sp>
    </p:spTree>
    <p:extLst>
      <p:ext uri="{BB962C8B-B14F-4D97-AF65-F5344CB8AC3E}">
        <p14:creationId xmlns:p14="http://schemas.microsoft.com/office/powerpoint/2010/main" val="2490120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2">
                    <a:lumMod val="25000"/>
                  </a:schemeClr>
                </a:solidFill>
                <a:latin typeface="Algerian" panose="04020705040A02060702" pitchFamily="82" charset="0"/>
              </a:rPr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>
                <a:latin typeface="Arial Narrow" panose="020B0606020202030204" pitchFamily="34" charset="0"/>
              </a:rPr>
              <a:t>Important insights to explain during presentation:</a:t>
            </a:r>
          </a:p>
          <a:p>
            <a:r>
              <a:rPr dirty="0">
                <a:latin typeface="Arial Narrow" panose="020B0606020202030204" pitchFamily="34" charset="0"/>
              </a:rPr>
              <a:t>KPIs provide quick understanding of overall performance.</a:t>
            </a:r>
          </a:p>
          <a:p>
            <a:r>
              <a:rPr dirty="0">
                <a:latin typeface="Arial Narrow" panose="020B0606020202030204" pitchFamily="34" charset="0"/>
              </a:rPr>
              <a:t>Trend charts help identify growth or decline patterns.</a:t>
            </a:r>
          </a:p>
          <a:p>
            <a:r>
              <a:rPr dirty="0">
                <a:latin typeface="Arial Narrow" panose="020B0606020202030204" pitchFamily="34" charset="0"/>
              </a:rPr>
              <a:t>Category comparison charts highlight top-performing segments.</a:t>
            </a:r>
          </a:p>
          <a:p>
            <a:r>
              <a:rPr dirty="0">
                <a:latin typeface="Arial Narrow" panose="020B0606020202030204" pitchFamily="34" charset="0"/>
              </a:rPr>
              <a:t>Interactive filters allow customized data exploration.</a:t>
            </a:r>
          </a:p>
          <a:p>
            <a:r>
              <a:rPr dirty="0">
                <a:latin typeface="Arial Narrow" panose="020B0606020202030204" pitchFamily="34" charset="0"/>
              </a:rPr>
              <a:t>The dashboard improves faster and data-driven decision-making.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2">
                    <a:lumMod val="25000"/>
                  </a:schemeClr>
                </a:solidFill>
                <a:latin typeface="Algerian" panose="04020705040A02060702" pitchFamily="82" charset="0"/>
              </a:rPr>
              <a:t>Technical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        </a:t>
            </a:r>
            <a:r>
              <a:rPr b="1" dirty="0"/>
              <a:t>Power BI concepts used in the dashboard:</a:t>
            </a:r>
          </a:p>
          <a:p>
            <a:r>
              <a:rPr dirty="0">
                <a:latin typeface="Arial Narrow" panose="020B0606020202030204" pitchFamily="34" charset="0"/>
              </a:rPr>
              <a:t>Data cleaning and transformation were done before visualization.</a:t>
            </a:r>
          </a:p>
          <a:p>
            <a:r>
              <a:rPr dirty="0">
                <a:latin typeface="Arial Narrow" panose="020B0606020202030204" pitchFamily="34" charset="0"/>
              </a:rPr>
              <a:t>Relationships between tables enable connected analysis.</a:t>
            </a:r>
          </a:p>
          <a:p>
            <a:r>
              <a:rPr dirty="0">
                <a:latin typeface="Arial Narrow" panose="020B0606020202030204" pitchFamily="34" charset="0"/>
              </a:rPr>
              <a:t>Measures and calculations are used for KPI generation.</a:t>
            </a:r>
          </a:p>
          <a:p>
            <a:r>
              <a:rPr dirty="0">
                <a:latin typeface="Arial Narrow" panose="020B0606020202030204" pitchFamily="34" charset="0"/>
              </a:rPr>
              <a:t>Visual formatting improves readability and user experience.</a:t>
            </a:r>
          </a:p>
          <a:p>
            <a:r>
              <a:rPr dirty="0">
                <a:latin typeface="Arial Narrow" panose="020B0606020202030204" pitchFamily="34" charset="0"/>
              </a:rPr>
              <a:t>Interactive dashboard design enhances business reporting.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3">
                    <a:lumMod val="75000"/>
                  </a:schemeClr>
                </a:solidFill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450372"/>
            <a:ext cx="7704667" cy="3332816"/>
          </a:xfrm>
        </p:spPr>
        <p:txBody>
          <a:bodyPr/>
          <a:lstStyle/>
          <a:p>
            <a:r>
              <a:rPr dirty="0">
                <a:latin typeface="Arial Narrow" panose="020B0606020202030204" pitchFamily="34" charset="0"/>
              </a:rPr>
              <a:t>This Power BI dashboard provides meaningful business insights through interactive visuals, KPI tracking, and trend analysis.</a:t>
            </a:r>
          </a:p>
          <a:p>
            <a:r>
              <a:rPr dirty="0">
                <a:latin typeface="Arial Narrow" panose="020B0606020202030204" pitchFamily="34" charset="0"/>
              </a:rPr>
              <a:t> The dashboard supports efficient monitoring and strategic decisions.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666" y="2438400"/>
            <a:ext cx="7704667" cy="1981200"/>
          </a:xfrm>
        </p:spPr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16</TotalTime>
  <Words>538</Words>
  <Application>Microsoft Office PowerPoint</Application>
  <PresentationFormat>On-screen Show (4:3)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Algerian</vt:lpstr>
      <vt:lpstr>Arial</vt:lpstr>
      <vt:lpstr>Arial Narrow</vt:lpstr>
      <vt:lpstr>Corbel</vt:lpstr>
      <vt:lpstr>Parallax</vt:lpstr>
      <vt:lpstr>Power BI Dashboard Analysis</vt:lpstr>
      <vt:lpstr>Dashboard Summary</vt:lpstr>
      <vt:lpstr>Page 1 - Analysis</vt:lpstr>
      <vt:lpstr>Page 2 - Analysis</vt:lpstr>
      <vt:lpstr>Page 3 – PATIENT Analysis</vt:lpstr>
      <vt:lpstr>PowerPoint Presentation</vt:lpstr>
      <vt:lpstr>Key Business Insights</vt:lpstr>
      <vt:lpstr>Technical Explanation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rajendran</dc:creator>
  <cp:keywords/>
  <dc:description>generated using python-pptx</dc:description>
  <cp:lastModifiedBy>trajendran031954@outlook.com</cp:lastModifiedBy>
  <cp:revision>4</cp:revision>
  <dcterms:created xsi:type="dcterms:W3CDTF">2013-01-27T09:14:16Z</dcterms:created>
  <dcterms:modified xsi:type="dcterms:W3CDTF">2026-05-26T07:53:32Z</dcterms:modified>
  <cp:category/>
</cp:coreProperties>
</file>